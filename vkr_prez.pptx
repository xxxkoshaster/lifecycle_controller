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DAC7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698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5F8FF"/>
                </a:solidFill>
                <a:latin typeface="Arial"/>
              </a:rPr>
              <a:t>Разработка системы
управления жизненным циклом интерактивных ML-
окружений и распределения GPU-ресурсов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94760"/>
            <a:ext cx="4892040" cy="114300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700" b="1">
                <a:solidFill>
                  <a:srgbClr val="F5F8FF"/>
                </a:solidFill>
                <a:latin typeface="Arial"/>
              </a:rPr>
              <a:t>Воробьев Глеб Янович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B4C2DC"/>
                </a:solidFill>
                <a:latin typeface="Arial"/>
              </a:rPr>
              <a:t>Группа: М8О-407Б-23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3794760"/>
            <a:ext cx="5257800" cy="114300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600" b="1">
                <a:solidFill>
                  <a:srgbClr val="F5F8FF"/>
                </a:solidFill>
                <a:latin typeface="Arial"/>
              </a:rPr>
              <a:t>Филимонов Николай Сергеевич</a:t>
            </a:r>
          </a:p>
          <a:p>
            <a:pPr algn="l">
              <a:spcBef>
                <a:spcPts val="500"/>
              </a:spcBef>
            </a:pPr>
            <a:r>
              <a:rPr sz="1150">
                <a:solidFill>
                  <a:srgbClr val="B4C2DC"/>
                </a:solidFill>
                <a:latin typeface="Arial"/>
              </a:rPr>
              <a:t>Руководитель ВКР
Кафедра: Образовательный центр Института №8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035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B4C2DC"/>
                </a:solidFill>
                <a:latin typeface="Arial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ПРОБЛЕМА → ЭФФЕКТ → 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Актуальность темы и цель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783080" cy="123444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Notebook
запущен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CPU / RAM / GPU
выделены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783080" cy="123444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Работа
завершена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Пользователь ушёл,
compute почти отсутствует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828800"/>
            <a:ext cx="1783080" cy="123444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A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GPU остаётся
занятой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Pod всё ещё
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4344" y="1828800"/>
            <a:ext cx="1783080" cy="123444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Очередь
растёт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Другие пользователи
ждут ресурс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450592"/>
            <a:ext cx="329184" cy="0"/>
          </a:xfrm>
          <a:prstGeom prst="line">
            <a:avLst/>
          </a:prstGeom>
          <a:ln w="2540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450592"/>
            <a:ext cx="329184" cy="0"/>
          </a:xfrm>
          <a:prstGeom prst="line">
            <a:avLst/>
          </a:prstGeom>
          <a:ln w="2540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85432" y="2450592"/>
            <a:ext cx="329184" cy="0"/>
          </a:xfrm>
          <a:prstGeom prst="line">
            <a:avLst/>
          </a:prstGeom>
          <a:ln w="2540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977639"/>
            <a:ext cx="822960" cy="274320"/>
          </a:xfrm>
          <a:prstGeom prst="roundRect">
            <a:avLst/>
          </a:prstGeom>
          <a:solidFill>
            <a:srgbClr val="37D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61024"/>
                </a:solidFill>
                <a:latin typeface="Arial"/>
              </a:rPr>
              <a:t>ЦЕЛЬ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370832"/>
            <a:ext cx="10287000" cy="10972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900" b="1">
                <a:solidFill>
                  <a:srgbClr val="F5F8FF"/>
                </a:solidFill>
                <a:latin typeface="Arial"/>
              </a:rPr>
              <a:t>Повысить эффективность использования ограниченного GPU-пула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B4C2DC"/>
                </a:solidFill>
                <a:latin typeface="Arial"/>
              </a:rPr>
              <a:t>Безопасно выявлять простой → освобождать ресурсы → сокращать ожидание → повышать плотность использования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742432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4C2DC"/>
                </a:solidFill>
                <a:latin typeface="Arial"/>
              </a:rPr>
              <a:t>Ключевой риск: ошибочная остановка полезной GPU-нагрузки хуже кратковременного избыточного потребления.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ПЛАН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Цель и задачи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469880" cy="658368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550" b="1">
                <a:solidFill>
                  <a:srgbClr val="F5F8FF"/>
                </a:solidFill>
                <a:latin typeface="Arial"/>
              </a:rPr>
              <a:t>Цель: разработать безопасный lifecycle-механизм и определить подходящий способ распределения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87168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01  Аудит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Архитектура, GPU stack,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487168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02  Модель активности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Jupyter + CPU + 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2487168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03  Lifecycle Controller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Policy-driven stop / resume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60520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A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04  GPU sharing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Full GPU / MIG / HAMi vGPU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4160520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05  Планирование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Volcano queues / priority / DRF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2" y="4160520"/>
            <a:ext cx="2788920" cy="11887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50" b="1">
                <a:solidFill>
                  <a:srgbClr val="F5F8FF"/>
                </a:solidFill>
                <a:latin typeface="Arial"/>
              </a:rPr>
              <a:t>06  Эксперименты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Correctness, utilization, queue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704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4C2DC"/>
                </a:solidFill>
                <a:latin typeface="Arial"/>
              </a:rPr>
              <a:t>Сначала валидируется наблюдаемость и классификация Idle; только после этого включается автоматический stop.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ГРАНИЦЫ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Объект и предмет исследования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2377440" cy="251460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600" b="1">
                <a:solidFill>
                  <a:srgbClr val="F5F8FF"/>
                </a:solidFill>
                <a:latin typeface="Arial"/>
              </a:rPr>
              <a:t>ОБЪЕКТ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B4C2DC"/>
                </a:solidFill>
                <a:latin typeface="Arial"/>
              </a:rPr>
              <a:t>Процессы предоставления и эксплуатации интерактивных ML-окружений в Kubernetes/Kubeflow.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5257800" cy="3246120"/>
          </a:xfrm>
          <a:prstGeom prst="roundRect">
            <a:avLst/>
          </a:prstGeom>
          <a:solidFill>
            <a:srgbClr val="091832"/>
          </a:solidFill>
          <a:ln w="15240">
            <a:solidFill>
              <a:srgbClr val="3DB1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3" y="1810512"/>
            <a:ext cx="4709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rial"/>
              </a:rPr>
              <a:t>Многопользовательская Kubernetes / Kubeflow платформа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414016"/>
            <a:ext cx="1874519" cy="9601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Notebook / Workspace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интерактивное окружение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2414016"/>
            <a:ext cx="1874519" cy="9601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GPU pool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Full GPU / MIG / vGPU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3694176"/>
            <a:ext cx="1874519" cy="86868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250" b="1">
                <a:solidFill>
                  <a:srgbClr val="F5F8FF"/>
                </a:solidFill>
                <a:latin typeface="Arial"/>
              </a:rPr>
              <a:t>Scheduler + telemetry</a:t>
            </a:r>
          </a:p>
          <a:p>
            <a:pPr algn="l">
              <a:spcBef>
                <a:spcPts val="500"/>
              </a:spcBef>
            </a:pPr>
            <a:r>
              <a:rPr sz="900">
                <a:solidFill>
                  <a:srgbClr val="B4C2DC"/>
                </a:solidFill>
                <a:latin typeface="Arial"/>
              </a:rPr>
              <a:t>очередь · placement · метрики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889504"/>
            <a:ext cx="457200" cy="0"/>
          </a:xfrm>
          <a:prstGeom prst="line">
            <a:avLst/>
          </a:prstGeom>
          <a:ln w="22860">
            <a:solidFill>
              <a:srgbClr val="42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35040" y="3410712"/>
            <a:ext cx="365760" cy="246888"/>
          </a:xfrm>
          <a:prstGeom prst="line">
            <a:avLst/>
          </a:prstGeom>
          <a:ln w="19050">
            <a:solidFill>
              <a:srgbClr val="42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34272" y="1828800"/>
            <a:ext cx="2377440" cy="251460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600" b="1">
                <a:solidFill>
                  <a:srgbClr val="F5F8FF"/>
                </a:solidFill>
                <a:latin typeface="Arial"/>
              </a:rPr>
              <a:t>ПРЕДМЕТ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B4C2DC"/>
                </a:solidFill>
                <a:latin typeface="Arial"/>
              </a:rPr>
              <a:t>Методы определения активности, управления lifecycle, разделения GPU и справедливого планирования.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257800"/>
            <a:ext cx="8823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B4C2DC"/>
                </a:solidFill>
                <a:latin typeface="Arial"/>
              </a:rPr>
              <a:t>За рамками обязательной части: полный redesign UI, KubeVirt и production-миграция на Kubeflow Workspaces.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КАК КОМПОНЕНТЫ СВЯЗАНЫ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Стек технологий и архитектура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41732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Пользователь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Kubeflow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828800"/>
            <a:ext cx="141732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Notebook CR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PodSpec + ресурсы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173736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Notebook Controller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StatefulSet /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141732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Pod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Jupyter +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169164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Volcano / HAMi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queue + vGPU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42448" y="1828800"/>
            <a:ext cx="1097280" cy="8229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GPU pool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Full / MIG / vGPU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39696" y="2240280"/>
            <a:ext cx="292608" cy="0"/>
          </a:xfrm>
          <a:prstGeom prst="line">
            <a:avLst/>
          </a:prstGeom>
          <a:ln w="2286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8496" y="2240280"/>
            <a:ext cx="292608" cy="0"/>
          </a:xfrm>
          <a:prstGeom prst="line">
            <a:avLst/>
          </a:prstGeom>
          <a:ln w="2286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17336" y="2240280"/>
            <a:ext cx="292608" cy="0"/>
          </a:xfrm>
          <a:prstGeom prst="line">
            <a:avLst/>
          </a:prstGeom>
          <a:ln w="2286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46136" y="2240280"/>
            <a:ext cx="338328" cy="0"/>
          </a:xfrm>
          <a:prstGeom prst="line">
            <a:avLst/>
          </a:prstGeom>
          <a:ln w="2286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94976" y="2240280"/>
            <a:ext cx="265176" cy="0"/>
          </a:xfrm>
          <a:prstGeom prst="line">
            <a:avLst/>
          </a:prstGeom>
          <a:ln w="2286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51960" y="3822191"/>
            <a:ext cx="1874519" cy="91440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Lifecycle Controller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Active / Idle / Unknown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419856"/>
            <a:ext cx="1325880" cy="694944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Jupyter API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B4C2DC"/>
                </a:solidFill>
                <a:latin typeface="Arial"/>
              </a:rPr>
              <a:t>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19856"/>
            <a:ext cx="1325880" cy="694944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Prometheus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B4C2DC"/>
                </a:solidFill>
                <a:latin typeface="Arial"/>
              </a:rPr>
              <a:t>CPU / 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3419856"/>
            <a:ext cx="1325880" cy="694944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A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DCGM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B4C2DC"/>
                </a:solidFill>
                <a:latin typeface="Arial"/>
              </a:rPr>
              <a:t>GPU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797296"/>
            <a:ext cx="914400" cy="274320"/>
          </a:xfrm>
          <a:prstGeom prst="roundRect">
            <a:avLst/>
          </a:prstGeom>
          <a:solidFill>
            <a:srgbClr val="37D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56232" y="5797296"/>
            <a:ext cx="1508760" cy="274320"/>
          </a:xfrm>
          <a:prstGeom prst="roundRect">
            <a:avLst/>
          </a:prstGeom>
          <a:solidFill>
            <a:srgbClr val="3D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controller-runtime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3591" y="5797296"/>
            <a:ext cx="1051560" cy="274320"/>
          </a:xfrm>
          <a:prstGeom prst="round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Kubernetes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73752" y="5797296"/>
            <a:ext cx="960120" cy="274320"/>
          </a:xfrm>
          <a:prstGeom prst="roundRect">
            <a:avLst/>
          </a:prstGeom>
          <a:solidFill>
            <a:srgbClr val="9D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Kubeflow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62472" y="5797296"/>
            <a:ext cx="1051560" cy="274320"/>
          </a:xfrm>
          <a:prstGeom prst="roundRect">
            <a:avLst/>
          </a:prstGeom>
          <a:solidFill>
            <a:srgbClr val="3D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Prometheus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2631" y="5797296"/>
            <a:ext cx="822960" cy="274320"/>
          </a:xfrm>
          <a:prstGeom prst="roundRect">
            <a:avLst/>
          </a:prstGeom>
          <a:solidFill>
            <a:srgbClr val="FFA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DCGM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5797296"/>
            <a:ext cx="777240" cy="274320"/>
          </a:xfrm>
          <a:prstGeom prst="roundRect">
            <a:avLst/>
          </a:prstGeom>
          <a:solidFill>
            <a:srgbClr val="41D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HAMi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00032" y="5797296"/>
            <a:ext cx="868680" cy="274320"/>
          </a:xfrm>
          <a:prstGeom prst="roundRect">
            <a:avLst/>
          </a:prstGeom>
          <a:solidFill>
            <a:srgbClr val="41D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61024"/>
                </a:solidFill>
                <a:latin typeface="Arial"/>
              </a:rPr>
              <a:t>Volcano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96912" y="4114800"/>
            <a:ext cx="0" cy="201168"/>
          </a:xfrm>
          <a:prstGeom prst="line">
            <a:avLst/>
          </a:prstGeom>
          <a:ln w="1778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42832" y="4114800"/>
            <a:ext cx="0" cy="201168"/>
          </a:xfrm>
          <a:prstGeom prst="line">
            <a:avLst/>
          </a:prstGeom>
          <a:ln w="1778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88752" y="4114800"/>
            <a:ext cx="0" cy="201168"/>
          </a:xfrm>
          <a:prstGeom prst="line">
            <a:avLst/>
          </a:prstGeom>
          <a:ln w="1778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55080" y="4315968"/>
            <a:ext cx="4233672" cy="0"/>
          </a:xfrm>
          <a:prstGeom prst="line">
            <a:avLst/>
          </a:prstGeom>
          <a:ln w="1778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6144768" y="4279392"/>
            <a:ext cx="210312" cy="36576"/>
          </a:xfrm>
          <a:prstGeom prst="line">
            <a:avLst/>
          </a:prstGeom>
          <a:ln w="2032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3246120" y="2697480"/>
            <a:ext cx="1947672" cy="1124711"/>
          </a:xfrm>
          <a:prstGeom prst="line">
            <a:avLst/>
          </a:prstGeom>
          <a:ln w="2159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78224" y="485546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>
                <a:solidFill>
                  <a:srgbClr val="9D67FF"/>
                </a:solidFill>
                <a:latin typeface="Arial"/>
              </a:rPr>
              <a:t>stop annotation → Notebook 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СОБСТВЕННАЯ РАЗРАБОТКА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Lifecycle Controller: схема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9344"/>
            <a:ext cx="1874519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Jupyter API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last_activity / kernels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1874519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CPU metrics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rolling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77056"/>
            <a:ext cx="1874519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A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GPU metrics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utilization / VRAM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340864"/>
            <a:ext cx="2011680" cy="141732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Activity Evaluator</a:t>
            </a:r>
          </a:p>
          <a:p>
            <a:pPr algn="l">
              <a:spcBef>
                <a:spcPts val="500"/>
              </a:spcBef>
            </a:pPr>
            <a:r>
              <a:rPr sz="1050">
                <a:solidFill>
                  <a:srgbClr val="B4C2DC"/>
                </a:solidFill>
                <a:latin typeface="Arial"/>
              </a:rPr>
              <a:t>freshness
thresholds
rolling window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011680"/>
            <a:ext cx="512064" cy="1042416"/>
          </a:xfrm>
          <a:prstGeom prst="line">
            <a:avLst/>
          </a:prstGeom>
          <a:ln w="1905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78608" y="3054096"/>
            <a:ext cx="512064" cy="91440"/>
          </a:xfrm>
          <a:prstGeom prst="line">
            <a:avLst/>
          </a:prstGeom>
          <a:ln w="1905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78608" y="3054096"/>
            <a:ext cx="512064" cy="1225296"/>
          </a:xfrm>
          <a:prstGeom prst="line">
            <a:avLst/>
          </a:prstGeom>
          <a:ln w="1905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42432" y="1536192"/>
            <a:ext cx="1417320" cy="53035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2322576"/>
            <a:ext cx="1417320" cy="53035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A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IDLE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108960"/>
            <a:ext cx="1417320" cy="53035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00" b="1">
                <a:solidFill>
                  <a:srgbClr val="F5F8FF"/>
                </a:solidFill>
                <a:latin typeface="Arial"/>
              </a:rPr>
              <a:t>UNKNOWN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30368" y="3054096"/>
            <a:ext cx="420624" cy="0"/>
          </a:xfrm>
          <a:prstGeom prst="line">
            <a:avLst/>
          </a:prstGeom>
          <a:ln w="2032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77840" y="3877056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4C2DC"/>
                </a:solidFill>
                <a:latin typeface="Arial"/>
              </a:rPr>
              <a:t>Unknown ≠ Idle
ошибка → keep running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2039112"/>
            <a:ext cx="1874519" cy="114300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Lifecycle Policy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idleTimeout · grace
never-cull · warning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223760" y="2615184"/>
            <a:ext cx="566928" cy="128016"/>
          </a:xfrm>
          <a:prstGeom prst="line">
            <a:avLst/>
          </a:prstGeom>
          <a:ln w="2032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82127" y="3913632"/>
            <a:ext cx="1874519" cy="841248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Stop annotation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PATCH Notebook 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3218688"/>
            <a:ext cx="0" cy="603503"/>
          </a:xfrm>
          <a:prstGeom prst="line">
            <a:avLst/>
          </a:prstGeom>
          <a:ln w="20320">
            <a:solidFill>
              <a:srgbClr val="9D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86416" y="3822191"/>
            <a:ext cx="1325880" cy="105156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250" b="1">
                <a:solidFill>
                  <a:srgbClr val="F5F8FF"/>
                </a:solidFill>
                <a:latin typeface="Arial"/>
              </a:rPr>
              <a:t>NotebookReconciler</a:t>
            </a: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B4C2DC"/>
                </a:solidFill>
                <a:latin typeface="Arial"/>
              </a:rPr>
              <a:t>replicas = 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02368" y="4334256"/>
            <a:ext cx="310896" cy="0"/>
          </a:xfrm>
          <a:prstGeom prst="line">
            <a:avLst/>
          </a:prstGeom>
          <a:ln w="20320">
            <a:solidFill>
              <a:srgbClr val="3D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88920" y="5230368"/>
            <a:ext cx="6629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rial"/>
              </a:rPr>
              <a:t>Idle только если все обязательные сигналы доступны и ниже порогов дольше timeout.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23036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B4C2DC"/>
                </a:solidFill>
                <a:latin typeface="Arial"/>
              </a:rPr>
              <a:t>Pod удалён → CPU / RAM / GPU освобождены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ЧТО ИЗМЕНИТСЯ ДЛЯ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Практическая значимость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749808" cy="274320"/>
          </a:xfrm>
          <a:prstGeom prst="round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5F8FF"/>
                </a:solidFill>
                <a:latin typeface="Arial"/>
              </a:rPr>
              <a:t>ДО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987552" cy="274320"/>
          </a:xfrm>
          <a:prstGeom prst="roundRect">
            <a:avLst/>
          </a:prstGeom>
          <a:solidFill>
            <a:srgbClr val="41D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61024"/>
                </a:solidFill>
                <a:latin typeface="Arial"/>
              </a:rPr>
              <a:t>ПОСЛЕ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10512"/>
            <a:ext cx="4983480" cy="2880360"/>
          </a:xfrm>
          <a:prstGeom prst="roundRect">
            <a:avLst/>
          </a:prstGeom>
          <a:solidFill>
            <a:srgbClr val="11274B"/>
          </a:solidFill>
          <a:ln w="1651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Одна GPU выделена одному Notebook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670048"/>
            <a:ext cx="4206240" cy="749808"/>
          </a:xfrm>
          <a:prstGeom prst="roundRect">
            <a:avLst/>
          </a:prstGeom>
          <a:solidFill>
            <a:srgbClr val="182946"/>
          </a:solidFill>
          <a:ln w="1397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33856" y="2706624"/>
            <a:ext cx="822960" cy="676656"/>
          </a:xfrm>
          <a:prstGeom prst="round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834640"/>
            <a:ext cx="5852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rial"/>
              </a:rPr>
              <a:t>~8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83464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B4C2DC"/>
                </a:solidFill>
                <a:latin typeface="Arial"/>
              </a:rPr>
              <a:t>остальные ресурсы простаивают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3075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4C2DC"/>
                </a:solidFill>
                <a:latin typeface="Arial"/>
              </a:rPr>
              <a:t>Notebook B
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73075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4C2DC"/>
                </a:solidFill>
                <a:latin typeface="Arial"/>
              </a:rPr>
              <a:t>Notebook C
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739896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5B5B"/>
                </a:solidFill>
                <a:latin typeface="Arial"/>
              </a:rPr>
              <a:t>GPU
занята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10512"/>
            <a:ext cx="4983480" cy="2880360"/>
          </a:xfrm>
          <a:prstGeom prst="roundRect">
            <a:avLst/>
          </a:prstGeom>
          <a:solidFill>
            <a:srgbClr val="11274B"/>
          </a:solidFill>
          <a:ln w="1651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0116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GPU делится, idle-ресурсы возвращаются в пул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1112" y="2670048"/>
            <a:ext cx="1051560" cy="71323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A · 8 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670048"/>
            <a:ext cx="1325880" cy="71323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B · 16 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2670048"/>
            <a:ext cx="1417320" cy="71323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150" b="1">
                <a:solidFill>
                  <a:srgbClr val="F5F8FF"/>
                </a:solidFill>
                <a:latin typeface="Arial"/>
              </a:rPr>
              <a:t>Свободно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3767328"/>
            <a:ext cx="1207008" cy="0"/>
          </a:xfrm>
          <a:prstGeom prst="line">
            <a:avLst/>
          </a:prstGeom>
          <a:ln w="22860">
            <a:solidFill>
              <a:srgbClr val="37DA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0" y="3547872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>
                <a:solidFill>
                  <a:srgbClr val="37DAC7"/>
                </a:solidFill>
                <a:latin typeface="Arial"/>
              </a:rPr>
              <a:t>Idle → 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547872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41D38C"/>
                </a:solidFill>
                <a:latin typeface="Arial"/>
              </a:rPr>
              <a:t>Volcano → следующий workload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3154680" cy="841248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Эффективность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B4C2DC"/>
                </a:solidFill>
                <a:latin typeface="Arial"/>
              </a:rPr>
              <a:t>меньше GPU idle-hours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5074920"/>
            <a:ext cx="3154680" cy="841248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Доступность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B4C2DC"/>
                </a:solidFill>
                <a:latin typeface="Arial"/>
              </a:rPr>
              <a:t>меньше queue wait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074920"/>
            <a:ext cx="3154680" cy="841248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Объяснимость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B4C2DC"/>
                </a:solidFill>
                <a:latin typeface="Arial"/>
              </a:rPr>
              <a:t>state · reason · timestamps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ЧТО ДОЛЖНО БЫТЬ ПОЛУЧЕНО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Ожидаемые результаты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074920" cy="13258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430" b="1">
                <a:solidFill>
                  <a:srgbClr val="F5F8FF"/>
                </a:solidFill>
                <a:latin typeface="Arial"/>
              </a:rPr>
              <a:t>01  Работающий Lifecycle Controller</a:t>
            </a:r>
          </a:p>
          <a:p>
            <a:pPr algn="l">
              <a:spcBef>
                <a:spcPts val="400"/>
              </a:spcBef>
            </a:pPr>
            <a:r>
              <a:rPr sz="1040">
                <a:solidFill>
                  <a:srgbClr val="B4C2DC"/>
                </a:solidFill>
                <a:latin typeface="Arial"/>
              </a:rPr>
              <a:t>Определяет Active / Idle / Unknown, работает в dry-run и безопасно выполняет stop / resume.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074920" cy="13258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430" b="1">
                <a:solidFill>
                  <a:srgbClr val="F5F8FF"/>
                </a:solidFill>
                <a:latin typeface="Arial"/>
              </a:rPr>
              <a:t>02  Верифицированная модель активности</a:t>
            </a:r>
          </a:p>
          <a:p>
            <a:pPr algn="l">
              <a:spcBef>
                <a:spcPts val="400"/>
              </a:spcBef>
            </a:pPr>
            <a:r>
              <a:rPr sz="1040">
                <a:solidFill>
                  <a:srgbClr val="B4C2DC"/>
                </a:solidFill>
                <a:latin typeface="Arial"/>
              </a:rPr>
              <a:t>Объединяет Jupyter-, CPU- и GPU-сигналы и сохраняет fail-safe поведение при недоступной телеметрии.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218688"/>
            <a:ext cx="5074920" cy="13258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430" b="1">
                <a:solidFill>
                  <a:srgbClr val="F5F8FF"/>
                </a:solidFill>
                <a:latin typeface="Arial"/>
              </a:rPr>
              <a:t>03  Выбор режима распределения GPU</a:t>
            </a:r>
          </a:p>
          <a:p>
            <a:pPr algn="l">
              <a:spcBef>
                <a:spcPts val="400"/>
              </a:spcBef>
            </a:pPr>
            <a:r>
              <a:rPr sz="1040">
                <a:solidFill>
                  <a:srgbClr val="B4C2DC"/>
                </a:solidFill>
                <a:latin typeface="Arial"/>
              </a:rPr>
              <a:t>По экспериментам формируется decision matrix для Full GPU, MIG и HAMi / vGPU.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218688"/>
            <a:ext cx="5074920" cy="13258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430" b="1">
                <a:solidFill>
                  <a:srgbClr val="F5F8FF"/>
                </a:solidFill>
                <a:latin typeface="Arial"/>
              </a:rPr>
              <a:t>04  Политика конкурентного доступа</a:t>
            </a:r>
          </a:p>
          <a:p>
            <a:pPr algn="l">
              <a:spcBef>
                <a:spcPts val="400"/>
              </a:spcBef>
            </a:pPr>
            <a:r>
              <a:rPr sz="1040">
                <a:solidFill>
                  <a:srgbClr val="B4C2DC"/>
                </a:solidFill>
                <a:latin typeface="Arial"/>
              </a:rPr>
              <a:t>Проверяется сценарий Volcano: queues, priority, DRF и порядок обслуживания при дефиците GPU.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983480"/>
            <a:ext cx="1225296" cy="274320"/>
          </a:xfrm>
          <a:prstGeom prst="roundRect">
            <a:avLst/>
          </a:prstGeom>
          <a:solidFill>
            <a:srgbClr val="41D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19" b="1">
                <a:solidFill>
                  <a:srgbClr val="061024"/>
                </a:solidFill>
                <a:latin typeface="Arial"/>
              </a:rPr>
              <a:t>КРИТЕРИИ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5321808"/>
            <a:ext cx="10488168" cy="868680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64008"/>
          <a:lstStyle/>
          <a:p>
            <a:pPr algn="l"/>
            <a:r>
              <a:rPr sz="1430" b="1">
                <a:solidFill>
                  <a:srgbClr val="F5F8FF"/>
                </a:solidFill>
                <a:latin typeface="Arial"/>
              </a:rPr>
              <a:t>Безопасность + измеримый эффект</a:t>
            </a:r>
          </a:p>
          <a:p>
            <a:pPr algn="l">
              <a:spcBef>
                <a:spcPts val="400"/>
              </a:spcBef>
            </a:pPr>
            <a:r>
              <a:rPr sz="1040">
                <a:solidFill>
                  <a:srgbClr val="B4C2DC"/>
                </a:solidFill>
                <a:latin typeface="Arial"/>
              </a:rPr>
              <a:t>0 ложных остановок в контрольных Active / Unknown сценариях · измерены reclaimed GPU-hours · queue wait p95 · throughput / slowdown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7DAC7"/>
                </a:solidFill>
                <a:latin typeface="Arial"/>
              </a:rPr>
              <a:t>ПЕРВЫЙ ТЕХНИЧЕСКИЙ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2004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B4C2DC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C7EA2"/>
                </a:solidFill>
                <a:latin typeface="Arial"/>
              </a:rPr>
              <a:t>ВКР · Kubernetes / Kubeflow / GPU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1792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0">
                <a:solidFill>
                  <a:srgbClr val="F5F8FF"/>
                </a:solidFill>
                <a:latin typeface="Arial"/>
              </a:rPr>
              <a:t>Репозиторий и переход к реализации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2743200" cy="3840480"/>
          </a:xfrm>
          <a:prstGeom prst="roundRect">
            <a:avLst/>
          </a:prstGeom>
          <a:solidFill>
            <a:srgbClr val="11274B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400" b="1">
                <a:solidFill>
                  <a:srgbClr val="F5F8FF"/>
                </a:solidFill>
                <a:latin typeface="Arial"/>
              </a:rPr>
              <a:t>РЕПОЗИТОРИЙ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B4C2DC"/>
                </a:solidFill>
                <a:latin typeface="Arial"/>
              </a:rPr>
              <a:t>Сфера Код
[вставить URL репозитория]
• controller
• manifests
• тесты
• experiment harness
• README / deployment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5010912"/>
            <a:ext cx="1691640" cy="274320"/>
          </a:xfrm>
          <a:prstGeom prst="roundRect">
            <a:avLst/>
          </a:prstGeom>
          <a:solidFill>
            <a:srgbClr val="41D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61024"/>
                </a:solidFill>
                <a:latin typeface="Arial"/>
              </a:rPr>
              <a:t>MVP · dry-run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664208"/>
            <a:ext cx="6949440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D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01  Inventory</a:t>
            </a:r>
          </a:p>
          <a:p>
            <a:pPr algn="l">
              <a:spcBef>
                <a:spcPts val="500"/>
              </a:spcBef>
            </a:pPr>
            <a:r>
              <a:rPr sz="969">
                <a:solidFill>
                  <a:srgbClr val="B4C2DC"/>
                </a:solidFill>
                <a:latin typeface="Arial"/>
              </a:rPr>
              <a:t>версии · GPU stack · метрики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743200"/>
            <a:ext cx="6949440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37D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02  Dry-run</a:t>
            </a:r>
          </a:p>
          <a:p>
            <a:pPr algn="l">
              <a:spcBef>
                <a:spcPts val="500"/>
              </a:spcBef>
            </a:pPr>
            <a:r>
              <a:rPr sz="969">
                <a:solidFill>
                  <a:srgbClr val="B4C2DC"/>
                </a:solidFill>
                <a:latin typeface="Arial"/>
              </a:rPr>
              <a:t>Activity state + reason без mutation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3822191"/>
            <a:ext cx="6949440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9D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03  Stop / resume</a:t>
            </a:r>
          </a:p>
          <a:p>
            <a:pPr algn="l">
              <a:spcBef>
                <a:spcPts val="500"/>
              </a:spcBef>
            </a:pPr>
            <a:r>
              <a:rPr sz="969">
                <a:solidFill>
                  <a:srgbClr val="B4C2DC"/>
                </a:solidFill>
                <a:latin typeface="Arial"/>
              </a:rPr>
              <a:t>idle → stop → resource free → resume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4901184"/>
            <a:ext cx="6949440" cy="804672"/>
          </a:xfrm>
          <a:prstGeom prst="roundRect">
            <a:avLst/>
          </a:prstGeom>
          <a:solidFill>
            <a:srgbClr val="0E1F3E"/>
          </a:solidFill>
          <a:ln w="15240">
            <a:solidFill>
              <a:srgbClr val="41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73152"/>
          <a:lstStyle/>
          <a:p>
            <a:pPr algn="l"/>
            <a:r>
              <a:rPr sz="1350" b="1">
                <a:solidFill>
                  <a:srgbClr val="F5F8FF"/>
                </a:solidFill>
                <a:latin typeface="Arial"/>
              </a:rPr>
              <a:t>04  GPU / Volcano</a:t>
            </a:r>
          </a:p>
          <a:p>
            <a:pPr algn="l">
              <a:spcBef>
                <a:spcPts val="500"/>
              </a:spcBef>
            </a:pPr>
            <a:r>
              <a:rPr sz="969">
                <a:solidFill>
                  <a:srgbClr val="B4C2DC"/>
                </a:solidFill>
                <a:latin typeface="Arial"/>
              </a:rPr>
              <a:t>sharing + queue + fairness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5916168"/>
            <a:ext cx="6812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B4C2DC"/>
                </a:solidFill>
                <a:latin typeface="Arial"/>
              </a:rPr>
              <a:t>Gate: dry-run стабильно отличает Active / Unknown от Idle до включения mutation.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